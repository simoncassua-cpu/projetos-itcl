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Noto Sans" panose="020B0502040504020204" pitchFamily="34" charset="0"/>
      <p:regular r:id="rId14"/>
      <p:bold r:id="rId15"/>
      <p:italic r:id="rId16"/>
      <p:boldItalic r:id="rId17"/>
    </p:embeddedFont>
    <p:embeddedFont>
      <p:font typeface="Noto Sans Bold" panose="020B0802040504020204" charset="0"/>
      <p:regular r:id="rId18"/>
    </p:embeddedFont>
    <p:embeddedFont>
      <p:font typeface="Noto Sans ExtraBold" panose="020B0604020202020204" charset="0"/>
      <p:regular r:id="rId19"/>
    </p:embeddedFont>
    <p:embeddedFont>
      <p:font typeface="Noto Sans Medium" panose="020B0604020202020204" charset="0"/>
      <p:regular r:id="rId20"/>
    </p:embeddedFont>
    <p:embeddedFont>
      <p:font typeface="Noto Sans SemiBold" panose="020B0604020202020204" charset="0"/>
      <p:regular r:id="rId21"/>
    </p:embeddedFont>
    <p:embeddedFont>
      <p:font typeface="Rubik ExtraBold" panose="020B0604020202020204" charset="-79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66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3" name="Shape 1"/>
          <p:cNvSpPr/>
          <p:nvPr/>
        </p:nvSpPr>
        <p:spPr>
          <a:xfrm>
            <a:off x="453295" y="4120354"/>
            <a:ext cx="2651456" cy="651371"/>
          </a:xfrm>
          <a:prstGeom prst="roundRect">
            <a:avLst>
              <a:gd name="adj" fmla="val 4679"/>
            </a:avLst>
          </a:prstGeom>
          <a:solidFill>
            <a:srgbClr val="F7F6F1"/>
          </a:solidFill>
          <a:ln/>
        </p:spPr>
      </p:sp>
      <p:sp>
        <p:nvSpPr>
          <p:cNvPr id="4" name="Text 2"/>
          <p:cNvSpPr/>
          <p:nvPr/>
        </p:nvSpPr>
        <p:spPr>
          <a:xfrm>
            <a:off x="742808" y="4284164"/>
            <a:ext cx="2682014" cy="36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E2329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Estudo de caso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8903" y="2006600"/>
            <a:ext cx="5689458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84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Sistema de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84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Gestão Escolar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478915" y="4227417"/>
            <a:ext cx="213993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Colégio</a:t>
            </a:r>
            <a:r>
              <a:rPr lang="en-US" sz="2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Abêcê</a:t>
            </a:r>
            <a:endParaRPr lang="en-US" sz="2400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E5287B6-C4CF-F384-B94C-1A7836F08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530" y="2242857"/>
            <a:ext cx="4301175" cy="18774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475"/>
            <a:ext cx="1158211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8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CONTEXTO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074305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63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Por que este tema é importante?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585" y="2144514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373114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0526" y="2322760"/>
            <a:ext cx="1416439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Alunos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8179" y="3139948"/>
            <a:ext cx="335271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escolares todos os dias.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419489" y="2144514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084" y="2373114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36793" y="2322759"/>
            <a:ext cx="2519193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Professores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648084" y="3156268"/>
            <a:ext cx="335271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Turmas, presenças e notas.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8229394" y="2144514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88" y="2373114"/>
            <a:ext cx="457189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72365" y="2337593"/>
            <a:ext cx="2160700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Relatórios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8457988" y="3151902"/>
            <a:ext cx="335271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Informação pronta para consultar.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09585" y="5306556"/>
            <a:ext cx="10972526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os dados ficam espalhados, consultar, actualizar e preparar relatórios pode levar mais tempo.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11835707" y="6433145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7024"/>
            <a:ext cx="1158211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74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QUESTÃO CENTRAL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09585" y="1028883"/>
            <a:ext cx="10972526" cy="54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50" kern="100" spc="-58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O problema a investigar</a:t>
            </a:r>
            <a:endParaRPr lang="en-US" sz="3850" dirty="0"/>
          </a:p>
        </p:txBody>
      </p:sp>
      <p:sp>
        <p:nvSpPr>
          <p:cNvPr id="4" name="Shape 2"/>
          <p:cNvSpPr/>
          <p:nvPr/>
        </p:nvSpPr>
        <p:spPr>
          <a:xfrm>
            <a:off x="609585" y="1802209"/>
            <a:ext cx="776268" cy="776288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23" y="2012553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2644" y="1977628"/>
            <a:ext cx="5410065" cy="42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Registos em locais diferentes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748118" y="1802209"/>
            <a:ext cx="776268" cy="776288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456" y="2012553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06708" y="1764903"/>
            <a:ext cx="5410065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Repetição de tarefas e possibilidade de erros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609585" y="3734197"/>
            <a:ext cx="776268" cy="776288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23" y="3944541"/>
            <a:ext cx="355591" cy="355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2645" y="3734197"/>
            <a:ext cx="5410065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Dificuldade para encontrar a informação mais recente</a:t>
            </a:r>
            <a:endParaRPr lang="en-US" sz="2600" dirty="0"/>
          </a:p>
        </p:txBody>
      </p:sp>
      <p:sp>
        <p:nvSpPr>
          <p:cNvPr id="13" name="Shape 8"/>
          <p:cNvSpPr/>
          <p:nvPr/>
        </p:nvSpPr>
        <p:spPr>
          <a:xfrm>
            <a:off x="6748118" y="3734197"/>
            <a:ext cx="776268" cy="776288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456" y="3944541"/>
            <a:ext cx="355591" cy="355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06708" y="3691228"/>
            <a:ext cx="4261258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Necessidade de proteger dados pessoais</a:t>
            </a:r>
            <a:endParaRPr lang="en-US" sz="2600" dirty="0"/>
          </a:p>
        </p:txBody>
      </p:sp>
      <p:sp>
        <p:nvSpPr>
          <p:cNvPr id="16" name="Shape 10"/>
          <p:cNvSpPr/>
          <p:nvPr/>
        </p:nvSpPr>
        <p:spPr>
          <a:xfrm>
            <a:off x="609585" y="581352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C9CDC8"/>
          </a:solidFill>
          <a:ln/>
        </p:spPr>
      </p:sp>
      <p:sp>
        <p:nvSpPr>
          <p:cNvPr id="17" name="Text 11"/>
          <p:cNvSpPr/>
          <p:nvPr/>
        </p:nvSpPr>
        <p:spPr>
          <a:xfrm>
            <a:off x="609585" y="6139814"/>
            <a:ext cx="10972526" cy="72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Estas situações ainda precisam de ser confirmadas com a direcção e os funcionários do Colégio Abêcê.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835707" y="6433145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66731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4" name="Text 2"/>
          <p:cNvSpPr/>
          <p:nvPr/>
        </p:nvSpPr>
        <p:spPr>
          <a:xfrm>
            <a:off x="546086" y="2842319"/>
            <a:ext cx="365750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63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Objectivo do trabalho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263" y="625793"/>
            <a:ext cx="6095848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Propor um sistema que reúna os principais dados escolares num único local.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263" y="2117030"/>
            <a:ext cx="812780" cy="8128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857" y="2345630"/>
            <a:ext cx="355591" cy="355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27637" y="2293147"/>
            <a:ext cx="4876678" cy="460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Facilitar a consulta e os relatórios.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263" y="3306488"/>
            <a:ext cx="812780" cy="8128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857" y="3535088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27637" y="3482605"/>
            <a:ext cx="5495502" cy="460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Controlar o acesso às informações.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5484037" y="4495946"/>
            <a:ext cx="812780" cy="8128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2631" y="4724546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9370" y="4474899"/>
            <a:ext cx="5356337" cy="86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Definir uma implementação gradual e segura.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11835707" y="6433145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475"/>
            <a:ext cx="1158211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8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COMPARAÇÃO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074305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63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Quatro opções foram comparadas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197675"/>
            <a:ext cx="5257668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Papel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931339"/>
            <a:ext cx="5257668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Simples, mas lento para pesquisar e actualizar.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24442" y="2197675"/>
            <a:ext cx="5257668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Folhas de cálculo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324442" y="2931339"/>
            <a:ext cx="5257668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Fáceis de iniciar, mas podem criar ficheiros duplicados.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4225111"/>
            <a:ext cx="5257668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Programa pronto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09585" y="4958775"/>
            <a:ext cx="5257668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Começa mais rápido, mas pode ter custos e limites.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095848" y="3966666"/>
            <a:ext cx="5486263" cy="2027436"/>
          </a:xfrm>
          <a:custGeom>
            <a:avLst/>
            <a:gdLst/>
            <a:ahLst/>
            <a:cxnLst/>
            <a:rect l="l" t="t" r="r" b="b"/>
            <a:pathLst>
              <a:path w="5486263" h="2027436">
                <a:moveTo>
                  <a:pt x="0" y="0"/>
                </a:moveTo>
                <a:lnTo>
                  <a:pt x="5486263" y="0"/>
                </a:lnTo>
                <a:lnTo>
                  <a:pt x="5486263" y="2002036"/>
                </a:lnTo>
                <a:arcTo wR="25399" hR="25400" stAng="0" swAng="5400000"/>
                <a:lnTo>
                  <a:pt x="0" y="2027436"/>
                </a:lnTo>
                <a:lnTo>
                  <a:pt x="0" y="0"/>
                </a:lnTo>
                <a:close/>
              </a:path>
            </a:pathLst>
          </a:custGeom>
          <a:solidFill>
            <a:srgbClr val="DDEDE6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4225111"/>
            <a:ext cx="5029074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Sistema próprio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24442" y="4958775"/>
            <a:ext cx="5029074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Adapta-se à escola, mas exige desenvolvimento e manutenção.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089498" y="1939230"/>
            <a:ext cx="12700" cy="2027436"/>
          </a:xfrm>
          <a:prstGeom prst="rect">
            <a:avLst/>
          </a:prstGeom>
          <a:solidFill>
            <a:srgbClr val="C9CDC8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3960316"/>
            <a:ext cx="5486263" cy="12700"/>
          </a:xfrm>
          <a:prstGeom prst="rect">
            <a:avLst/>
          </a:prstGeom>
          <a:solidFill>
            <a:srgbClr val="C9CDC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498" y="3966666"/>
            <a:ext cx="12700" cy="2027436"/>
          </a:xfrm>
          <a:prstGeom prst="rect">
            <a:avLst/>
          </a:prstGeom>
          <a:solidFill>
            <a:srgbClr val="C9CDC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3960316"/>
            <a:ext cx="5486263" cy="12700"/>
          </a:xfrm>
          <a:prstGeom prst="rect">
            <a:avLst/>
          </a:prstGeom>
          <a:solidFill>
            <a:srgbClr val="C9CDC8"/>
          </a:solidFill>
          <a:ln/>
        </p:spPr>
      </p:sp>
      <p:sp>
        <p:nvSpPr>
          <p:cNvPr id="17" name="Text 15"/>
          <p:cNvSpPr/>
          <p:nvPr/>
        </p:nvSpPr>
        <p:spPr>
          <a:xfrm>
            <a:off x="11835707" y="6433145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475"/>
            <a:ext cx="1158211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8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CAMINHO RECOMENDADO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074305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63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Solução recomendada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1955423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Avançar por etapas, começando pelas necessidades reais da escola.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82782" y="2967553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09585" y="3304480"/>
            <a:ext cx="3352716" cy="1905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536236"/>
            <a:ext cx="3352716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Levantar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09585" y="4127024"/>
            <a:ext cx="3352716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Começar pelo levantamento das necessidades reais da escola.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892687" y="2967553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9489" y="3304480"/>
            <a:ext cx="3352716" cy="1905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11" name="Text 9"/>
          <p:cNvSpPr/>
          <p:nvPr/>
        </p:nvSpPr>
        <p:spPr>
          <a:xfrm>
            <a:off x="4419489" y="3536236"/>
            <a:ext cx="3352716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Comparar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19489" y="4127024"/>
            <a:ext cx="3352716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Depois, comparar soluções prontas com a criação de um sistema próprio.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02592" y="2967553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394" y="3304480"/>
            <a:ext cx="3352716" cy="1905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394" y="3536236"/>
            <a:ext cx="3352716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Avançar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394" y="4127024"/>
            <a:ext cx="3352716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 necessário, avançar com uma solução web simples, feita por etapas e ajustada ao trabalho do colégio.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35707" y="6433145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980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63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O que o sistema deverá organizar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585" y="1497905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726505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76358" y="1749375"/>
            <a:ext cx="541006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Alunos e encarregados de educação.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09585" y="3033491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3262091"/>
            <a:ext cx="457189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15601" y="3307831"/>
            <a:ext cx="541006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Professores, turmas e disciplinas.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345605" y="2286492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199" y="2515092"/>
            <a:ext cx="457189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12378" y="2537962"/>
            <a:ext cx="541006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Matrículas e transferências.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6345605" y="3840828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199" y="4069428"/>
            <a:ext cx="457189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51622" y="4090328"/>
            <a:ext cx="541006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Presenças, notas e relatórios.</a:t>
            </a:r>
            <a:endParaRPr lang="en-US" sz="2400" dirty="0"/>
          </a:p>
        </p:txBody>
      </p:sp>
      <p:sp>
        <p:nvSpPr>
          <p:cNvPr id="15" name="Shape 9"/>
          <p:cNvSpPr/>
          <p:nvPr/>
        </p:nvSpPr>
        <p:spPr>
          <a:xfrm>
            <a:off x="609585" y="4759027"/>
            <a:ext cx="914377" cy="914400"/>
          </a:xfrm>
          <a:prstGeom prst="ellipse">
            <a:avLst/>
          </a:prstGeom>
          <a:solidFill>
            <a:srgbClr val="0E6B5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79" y="4987627"/>
            <a:ext cx="457189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76358" y="500842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Contas de utilizadores e permissões.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11835707" y="6433145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475"/>
            <a:ext cx="1158211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8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PROTECÇÃO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074305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63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Segurança e continuidade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39310"/>
            <a:ext cx="426630" cy="426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1007" y="1955423"/>
            <a:ext cx="1024110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Cada pessoa deve ter o seu próprio acesso.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2892504"/>
            <a:ext cx="426630" cy="4266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1007" y="2908617"/>
            <a:ext cx="1024110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Cada função deve permitir apenas o necessário.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845798"/>
            <a:ext cx="426630" cy="4266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41007" y="3861911"/>
            <a:ext cx="1024110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palavras-passe e os dados devem ser protegidos.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4799092"/>
            <a:ext cx="426630" cy="4266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41007" y="4815205"/>
            <a:ext cx="1024110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Devem existir cópias de segurança e testes de recuperação.</a:t>
            </a:r>
            <a:endParaRPr lang="en-US" sz="2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5752386"/>
            <a:ext cx="426630" cy="4266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41007" y="5768499"/>
            <a:ext cx="1024110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 preciso manter o sistema actualizado.</a:t>
            </a:r>
            <a:endParaRPr lang="en-US" sz="2400" dirty="0"/>
          </a:p>
        </p:txBody>
      </p:sp>
      <p:sp>
        <p:nvSpPr>
          <p:cNvPr id="14" name="Shape 7"/>
          <p:cNvSpPr/>
          <p:nvPr/>
        </p:nvSpPr>
        <p:spPr>
          <a:xfrm>
            <a:off x="609585" y="2657475"/>
            <a:ext cx="10972526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15" name="Shape 8"/>
          <p:cNvSpPr/>
          <p:nvPr/>
        </p:nvSpPr>
        <p:spPr>
          <a:xfrm>
            <a:off x="609585" y="3610769"/>
            <a:ext cx="10972526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16" name="Shape 9"/>
          <p:cNvSpPr/>
          <p:nvPr/>
        </p:nvSpPr>
        <p:spPr>
          <a:xfrm>
            <a:off x="609585" y="4564062"/>
            <a:ext cx="10972526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17" name="Shape 10"/>
          <p:cNvSpPr/>
          <p:nvPr/>
        </p:nvSpPr>
        <p:spPr>
          <a:xfrm>
            <a:off x="609585" y="5517356"/>
            <a:ext cx="10972526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18" name="Text 11"/>
          <p:cNvSpPr/>
          <p:nvPr/>
        </p:nvSpPr>
        <p:spPr>
          <a:xfrm>
            <a:off x="11835707" y="6433145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475"/>
            <a:ext cx="1158211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80" dirty="0">
                <a:solidFill>
                  <a:srgbClr val="0E6B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IMPLEMENTAÇÃO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074305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63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Como colocar a proposta em prática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585" y="2279889"/>
            <a:ext cx="649867" cy="558800"/>
          </a:xfrm>
          <a:custGeom>
            <a:avLst/>
            <a:gdLst/>
            <a:ahLst/>
            <a:cxnLst/>
            <a:rect l="l" t="t" r="r" b="b"/>
            <a:pathLst>
              <a:path w="649867" h="558800">
                <a:moveTo>
                  <a:pt x="0" y="0"/>
                </a:moveTo>
                <a:lnTo>
                  <a:pt x="467904" y="0"/>
                </a:lnTo>
                <a:lnTo>
                  <a:pt x="649867" y="279400"/>
                </a:lnTo>
                <a:lnTo>
                  <a:pt x="467904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0E6B5C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419589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2646" y="2125172"/>
            <a:ext cx="440460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Ouvir</a:t>
            </a: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direcção, a secretaria e os professores.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24442" y="2279889"/>
            <a:ext cx="649867" cy="558800"/>
          </a:xfrm>
          <a:custGeom>
            <a:avLst/>
            <a:gdLst/>
            <a:ahLst/>
            <a:cxnLst/>
            <a:rect l="l" t="t" r="r" b="b"/>
            <a:pathLst>
              <a:path w="649867" h="558800">
                <a:moveTo>
                  <a:pt x="0" y="0"/>
                </a:moveTo>
                <a:lnTo>
                  <a:pt x="467904" y="0"/>
                </a:lnTo>
                <a:lnTo>
                  <a:pt x="649867" y="279400"/>
                </a:lnTo>
                <a:lnTo>
                  <a:pt x="467904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0E6B5C"/>
          </a:solidFill>
          <a:ln/>
        </p:spPr>
      </p:sp>
      <p:sp>
        <p:nvSpPr>
          <p:cNvPr id="8" name="Text 6"/>
          <p:cNvSpPr/>
          <p:nvPr/>
        </p:nvSpPr>
        <p:spPr>
          <a:xfrm>
            <a:off x="6426039" y="2419589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77503" y="2125172"/>
            <a:ext cx="440460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Definir</a:t>
            </a: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prioridades, custos e responsáveis.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09586" y="3721866"/>
            <a:ext cx="649867" cy="558800"/>
          </a:xfrm>
          <a:custGeom>
            <a:avLst/>
            <a:gdLst/>
            <a:ahLst/>
            <a:cxnLst/>
            <a:rect l="l" t="t" r="r" b="b"/>
            <a:pathLst>
              <a:path w="649867" h="558800">
                <a:moveTo>
                  <a:pt x="0" y="0"/>
                </a:moveTo>
                <a:lnTo>
                  <a:pt x="467904" y="0"/>
                </a:lnTo>
                <a:lnTo>
                  <a:pt x="649867" y="279400"/>
                </a:lnTo>
                <a:lnTo>
                  <a:pt x="467904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0E6B5C"/>
          </a:solidFill>
          <a:ln/>
        </p:spPr>
      </p:sp>
      <p:sp>
        <p:nvSpPr>
          <p:cNvPr id="11" name="Text 9"/>
          <p:cNvSpPr/>
          <p:nvPr/>
        </p:nvSpPr>
        <p:spPr>
          <a:xfrm>
            <a:off x="711183" y="3861566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2647" y="3567148"/>
            <a:ext cx="440460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Desenhar e testar</a:t>
            </a: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 protótipo.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24443" y="3721866"/>
            <a:ext cx="649867" cy="558800"/>
          </a:xfrm>
          <a:custGeom>
            <a:avLst/>
            <a:gdLst/>
            <a:ahLst/>
            <a:cxnLst/>
            <a:rect l="l" t="t" r="r" b="b"/>
            <a:pathLst>
              <a:path w="649867" h="558800">
                <a:moveTo>
                  <a:pt x="0" y="0"/>
                </a:moveTo>
                <a:lnTo>
                  <a:pt x="467904" y="0"/>
                </a:lnTo>
                <a:lnTo>
                  <a:pt x="649867" y="279400"/>
                </a:lnTo>
                <a:lnTo>
                  <a:pt x="467904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0E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040" y="3861566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77504" y="3567148"/>
            <a:ext cx="440460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Construir</a:t>
            </a: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versão inicial com dados fictícios.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09585" y="5110800"/>
            <a:ext cx="649867" cy="558800"/>
          </a:xfrm>
          <a:custGeom>
            <a:avLst/>
            <a:gdLst/>
            <a:ahLst/>
            <a:cxnLst/>
            <a:rect l="l" t="t" r="r" b="b"/>
            <a:pathLst>
              <a:path w="649867" h="558800">
                <a:moveTo>
                  <a:pt x="0" y="0"/>
                </a:moveTo>
                <a:lnTo>
                  <a:pt x="467904" y="0"/>
                </a:lnTo>
                <a:lnTo>
                  <a:pt x="649867" y="279400"/>
                </a:lnTo>
                <a:lnTo>
                  <a:pt x="467904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0E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711182" y="5250500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2646" y="4956083"/>
            <a:ext cx="440460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Formar</a:t>
            </a: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os utilizadores e começar gradualmente.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24442" y="5110800"/>
            <a:ext cx="649867" cy="558800"/>
          </a:xfrm>
          <a:custGeom>
            <a:avLst/>
            <a:gdLst/>
            <a:ahLst/>
            <a:cxnLst/>
            <a:rect l="l" t="t" r="r" b="b"/>
            <a:pathLst>
              <a:path w="649867" h="558800">
                <a:moveTo>
                  <a:pt x="0" y="0"/>
                </a:moveTo>
                <a:lnTo>
                  <a:pt x="467904" y="0"/>
                </a:lnTo>
                <a:lnTo>
                  <a:pt x="649867" y="279400"/>
                </a:lnTo>
                <a:lnTo>
                  <a:pt x="467904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0E6B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26039" y="5250500"/>
            <a:ext cx="929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77503" y="4956083"/>
            <a:ext cx="440460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Avaliar</a:t>
            </a: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resultados e melhorar o sistema.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089498" y="1939230"/>
            <a:ext cx="12700" cy="134997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5" y="3282851"/>
            <a:ext cx="5486263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9498" y="3289201"/>
            <a:ext cx="12700" cy="134997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3282851"/>
            <a:ext cx="5486263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5" y="4632821"/>
            <a:ext cx="5486263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9498" y="4639171"/>
            <a:ext cx="12700" cy="134997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48" y="4632821"/>
            <a:ext cx="5486263" cy="12700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29" name="Text 27"/>
          <p:cNvSpPr/>
          <p:nvPr/>
        </p:nvSpPr>
        <p:spPr>
          <a:xfrm>
            <a:off x="11835707" y="6533044"/>
            <a:ext cx="3559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87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kern="100" spc="-72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Conclusão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840190"/>
            <a:ext cx="640064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1E232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Um sistema de gestão escolar pode tornar o trabalho mais </a:t>
            </a:r>
            <a:r>
              <a:rPr lang="en-US" sz="3200" dirty="0">
                <a:solidFill>
                  <a:srgbClr val="000000"/>
                </a:solidFill>
                <a:highlight>
                  <a:srgbClr val="FFD84D"/>
                </a:highlight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organizado, rápido e seguro.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630335"/>
            <a:ext cx="6400640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sucesso dependerá de requisitos bem definidos, dados correctos, formação, manutenção e participação da escola.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4918" y="1581745"/>
            <a:ext cx="4267192" cy="4666655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7" name="Text 5"/>
          <p:cNvSpPr/>
          <p:nvPr/>
        </p:nvSpPr>
        <p:spPr>
          <a:xfrm>
            <a:off x="7545611" y="2886421"/>
            <a:ext cx="3940276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Confirmar</a:t>
            </a: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 necessidades do Colégio Abêcê antes de escolher ou desenvolver a solução.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734010" y="6433145"/>
            <a:ext cx="45768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3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94EFE67-CF2F-ABB1-F951-EC828BFC43BD}"/>
              </a:ext>
            </a:extLst>
          </p:cNvPr>
          <p:cNvSpPr/>
          <p:nvPr/>
        </p:nvSpPr>
        <p:spPr>
          <a:xfrm>
            <a:off x="8298646" y="2328384"/>
            <a:ext cx="2299735" cy="42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 err="1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Próximo</a:t>
            </a:r>
            <a:r>
              <a:rPr lang="en-US" sz="2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Passo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DC1362-657E-1B36-5751-8546D637396E}"/>
              </a:ext>
            </a:extLst>
          </p:cNvPr>
          <p:cNvSpPr/>
          <p:nvPr/>
        </p:nvSpPr>
        <p:spPr>
          <a:xfrm>
            <a:off x="609585" y="63787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kern="100" spc="-72" dirty="0" err="1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Obrigado</a:t>
            </a:r>
            <a:r>
              <a:rPr lang="en-US" sz="4800" kern="100" spc="-72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 Pela </a:t>
            </a:r>
            <a:r>
              <a:rPr lang="en-US" sz="4800" kern="100" spc="-72" dirty="0" err="1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Atenção</a:t>
            </a:r>
            <a:r>
              <a:rPr lang="en-US" sz="4800" kern="100" spc="-72" dirty="0">
                <a:solidFill>
                  <a:srgbClr val="1E2329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!</a:t>
            </a:r>
            <a:endParaRPr lang="en-US" sz="48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7F652F8-C41B-1D3A-43F7-4D77A35AE3F4}"/>
              </a:ext>
            </a:extLst>
          </p:cNvPr>
          <p:cNvSpPr/>
          <p:nvPr/>
        </p:nvSpPr>
        <p:spPr>
          <a:xfrm>
            <a:off x="609586" y="2198277"/>
            <a:ext cx="10442483" cy="456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Simão </a:t>
            </a:r>
            <a:r>
              <a:rPr lang="en-US" sz="2400" b="1" dirty="0" err="1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Cassua</a:t>
            </a: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</a:t>
            </a:r>
            <a:r>
              <a:rPr lang="en-US" sz="2400" b="1" dirty="0" err="1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Cambando</a:t>
            </a: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– </a:t>
            </a:r>
            <a:r>
              <a:rPr lang="en-US" sz="2400" b="1" dirty="0" err="1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Curso</a:t>
            </a: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Técnico de </a:t>
            </a:r>
            <a:r>
              <a:rPr lang="en-US" sz="2400" b="1" dirty="0" err="1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Informática</a:t>
            </a: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de </a:t>
            </a:r>
            <a:r>
              <a:rPr lang="en-US" sz="2400" b="1" dirty="0" err="1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Gestão</a:t>
            </a:r>
            <a:endParaRPr lang="en-US" sz="2400" b="1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D3A79B6-C197-AC19-DA8D-04E3E578B734}"/>
              </a:ext>
            </a:extLst>
          </p:cNvPr>
          <p:cNvSpPr/>
          <p:nvPr/>
        </p:nvSpPr>
        <p:spPr>
          <a:xfrm>
            <a:off x="609585" y="2762517"/>
            <a:ext cx="10442483" cy="456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Instituto Técnico </a:t>
            </a:r>
            <a:r>
              <a:rPr lang="en-US" sz="2400" b="1" dirty="0" err="1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Comercial</a:t>
            </a:r>
            <a:r>
              <a:rPr lang="en-US" sz="2400" b="1" dirty="0">
                <a:solidFill>
                  <a:srgbClr val="1E2329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de Luanda - 2026</a:t>
            </a:r>
            <a:endParaRPr lang="en-US" sz="2400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0DD3057-D31C-5F8D-12F6-6EA8697991BA}"/>
              </a:ext>
            </a:extLst>
          </p:cNvPr>
          <p:cNvSpPr/>
          <p:nvPr/>
        </p:nvSpPr>
        <p:spPr>
          <a:xfrm rot="16200000">
            <a:off x="5215325" y="-759879"/>
            <a:ext cx="1584244" cy="10795724"/>
          </a:xfrm>
          <a:prstGeom prst="rect">
            <a:avLst/>
          </a:prstGeom>
          <a:solidFill>
            <a:srgbClr val="0E6B5C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49A8D1-7E04-BF9D-46B1-5D697FD7595F}"/>
              </a:ext>
            </a:extLst>
          </p:cNvPr>
          <p:cNvSpPr/>
          <p:nvPr/>
        </p:nvSpPr>
        <p:spPr>
          <a:xfrm>
            <a:off x="1027007" y="4097319"/>
            <a:ext cx="6494382" cy="456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 err="1">
                <a:solidFill>
                  <a:schemeClr val="bg1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Docente</a:t>
            </a:r>
            <a:r>
              <a:rPr lang="en-US" sz="2400" b="1" dirty="0">
                <a:solidFill>
                  <a:schemeClr val="bg1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: Joaquim Marcial Miguel Mbango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80735E2-2F63-CDCC-948E-7599291052C0}"/>
              </a:ext>
            </a:extLst>
          </p:cNvPr>
          <p:cNvSpPr/>
          <p:nvPr/>
        </p:nvSpPr>
        <p:spPr>
          <a:xfrm>
            <a:off x="1027007" y="4634219"/>
            <a:ext cx="6494382" cy="456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 err="1">
                <a:solidFill>
                  <a:schemeClr val="bg1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Estudo</a:t>
            </a:r>
            <a:r>
              <a:rPr lang="en-US" sz="2400" b="1" dirty="0">
                <a:solidFill>
                  <a:schemeClr val="bg1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de Caso: Colegio </a:t>
            </a:r>
            <a:r>
              <a:rPr lang="en-US" sz="2400" b="1" dirty="0" err="1">
                <a:solidFill>
                  <a:schemeClr val="bg1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Abêcê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435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495</Words>
  <Application>Microsoft Office PowerPoint</Application>
  <PresentationFormat>Widescreen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Rubik ExtraBold</vt:lpstr>
      <vt:lpstr>Arial</vt:lpstr>
      <vt:lpstr>Noto Sans</vt:lpstr>
      <vt:lpstr>Noto Sans ExtraBold</vt:lpstr>
      <vt:lpstr>Noto Sans Medium</vt:lpstr>
      <vt:lpstr>Noto Sans Bold</vt:lpstr>
      <vt:lpstr>Noto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casisDev</dc:creator>
  <cp:lastModifiedBy>Casimiro Gaspar</cp:lastModifiedBy>
  <cp:revision>4</cp:revision>
  <dcterms:created xsi:type="dcterms:W3CDTF">2026-10-21T13:38:00Z</dcterms:created>
  <dcterms:modified xsi:type="dcterms:W3CDTF">2026-10-21T20:42:18Z</dcterms:modified>
</cp:coreProperties>
</file>